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E37"/>
          </a:solidFill>
          <a:ln>
            <a:solidFill>
              <a:srgbClr val="0C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699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4944" y="941832"/>
            <a:ext cx="786384" cy="786384"/>
          </a:xfrm>
          <a:prstGeom prst="roundRect">
            <a:avLst/>
          </a:prstGeom>
          <a:solidFill>
            <a:srgbClr val="00A699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35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01952"/>
            <a:ext cx="10424160" cy="96012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Airflow on AWS EC2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880360"/>
            <a:ext cx="10058400" cy="54864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100" b="0">
                <a:solidFill>
                  <a:srgbClr val="C4DCEB"/>
                </a:solidFill>
                <a:latin typeface="Aptos"/>
              </a:rPr>
              <a:t>Step-by-step setup with Terraform, Docker Compose, and 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166360"/>
            <a:ext cx="7315200" cy="32004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93CDC5"/>
                </a:solidFill>
                <a:latin typeface="Aptos"/>
              </a:rPr>
              <a:t>From an empty AWS account to a deployed DAG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A699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789920" cy="438912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C1E37"/>
                </a:solidFill>
                <a:latin typeface="Aptos"/>
              </a:rPr>
              <a:t>1. What this project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77824"/>
            <a:ext cx="10789920" cy="29260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F6E7D"/>
                </a:solidFill>
                <a:latin typeface="Aptos"/>
              </a:rPr>
              <a:t>A lightweight, demo-friendly Airflow platform on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64808"/>
            <a:ext cx="502920" cy="22860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F6E7D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Airflow on AWS EC2 | Terraform + Docker Compose + 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6126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3041"/>
                </a:solidFill>
                <a:latin typeface="Aptos"/>
              </a:defRPr>
            </a:pPr>
            <a:r>
              <a:t>Infrastructure as code: Terraform builds the AWS networking, security group, EC2 host, Elastic IP, and SSH key.</a:t>
            </a:r>
          </a:p>
          <a:p>
            <a:pPr>
              <a:spcAft>
                <a:spcPts val="1400"/>
              </a:spcAft>
              <a:defRPr sz="1800">
                <a:solidFill>
                  <a:srgbClr val="233041"/>
                </a:solidFill>
                <a:latin typeface="Aptos"/>
              </a:defRPr>
            </a:pPr>
            <a:r>
              <a:t>Runtime: Docker Compose runs Airflow 2.9.2 with LocalExecutor and PostgreSQL 15.</a:t>
            </a:r>
          </a:p>
          <a:p>
            <a:pPr>
              <a:spcAft>
                <a:spcPts val="1400"/>
              </a:spcAft>
              <a:defRPr sz="1800">
                <a:solidFill>
                  <a:srgbClr val="233041"/>
                </a:solidFill>
                <a:latin typeface="Aptos"/>
              </a:defRPr>
            </a:pPr>
            <a:r>
              <a:t>Automation: GitHub Actions validates DAG Python files and deploys them to the EC2 host over SSH.</a:t>
            </a:r>
          </a:p>
          <a:p>
            <a:pPr>
              <a:spcAft>
                <a:spcPts val="1400"/>
              </a:spcAft>
              <a:defRPr sz="1800">
                <a:solidFill>
                  <a:srgbClr val="233041"/>
                </a:solidFill>
                <a:latin typeface="Aptos"/>
              </a:defRPr>
            </a:pPr>
            <a:r>
              <a:t>Outcome: open the Airflow UI, enable a DAG, trigger it, and view task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600200"/>
            <a:ext cx="3749039" cy="3383280"/>
          </a:xfrm>
          <a:prstGeom prst="roundRect">
            <a:avLst/>
          </a:prstGeom>
          <a:solidFill>
            <a:srgbClr val="F0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/>
          <a:lstStyle/>
          <a:p>
            <a:pPr algn="l"/>
            <a:r>
              <a:rPr sz="1800" b="0">
                <a:solidFill>
                  <a:srgbClr val="233041"/>
                </a:solidFill>
                <a:latin typeface="Aptos"/>
              </a:rPr>
              <a:t>Confirmed environment
• Airflow UI reachable
• example_hello_world parsed
• LocalExecutor + PostgreSQL
• Daily sample schedule
Use this as a test/demo platform; harden access before production.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A699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789920" cy="438912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C1E37"/>
                </a:solidFill>
                <a:latin typeface="Aptos"/>
              </a:rPr>
              <a:t>2. Architecture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77824"/>
            <a:ext cx="10789920" cy="29260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F6E7D"/>
                </a:solidFill>
                <a:latin typeface="Aptos"/>
              </a:rPr>
              <a:t>The CI/CD path and the runtime path meet at the Airflow host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64808"/>
            <a:ext cx="502920" cy="22860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F6E7D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Airflow on AWS EC2 | Terraform + Docker Compose + GitHub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2560320" cy="804672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Developer
Git push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08959" y="2761488"/>
            <a:ext cx="164592" cy="301752"/>
          </a:xfrm>
          <a:prstGeom prst="rightArrow">
            <a:avLst/>
          </a:prstGeom>
          <a:solidFill>
            <a:srgbClr val="5F6E7D"/>
          </a:solidFill>
          <a:ln>
            <a:solidFill>
              <a:srgbClr val="5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19272" y="2514600"/>
            <a:ext cx="2560320" cy="804672"/>
          </a:xfrm>
          <a:prstGeom prst="roundRect">
            <a:avLst/>
          </a:prstGeom>
          <a:solidFill>
            <a:srgbClr val="00A699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GitHub Actions
validate + copy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25312" y="2761488"/>
            <a:ext cx="164592" cy="301752"/>
          </a:xfrm>
          <a:prstGeom prst="rightArrow">
            <a:avLst/>
          </a:prstGeom>
          <a:solidFill>
            <a:srgbClr val="5F6E7D"/>
          </a:solidFill>
          <a:ln>
            <a:solidFill>
              <a:srgbClr val="5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35624" y="2514600"/>
            <a:ext cx="2560320" cy="804672"/>
          </a:xfrm>
          <a:prstGeom prst="roundRect">
            <a:avLst/>
          </a:prstGeom>
          <a:solidFill>
            <a:srgbClr val="F18E2B"/>
          </a:solidFill>
          <a:ln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AWS EC2
Docker Compose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41664" y="2761488"/>
            <a:ext cx="164592" cy="301752"/>
          </a:xfrm>
          <a:prstGeom prst="rightArrow">
            <a:avLst/>
          </a:prstGeom>
          <a:solidFill>
            <a:srgbClr val="5F6E7D"/>
          </a:solidFill>
          <a:ln>
            <a:solidFill>
              <a:srgbClr val="5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51976" y="2514600"/>
            <a:ext cx="2560320" cy="804672"/>
          </a:xfrm>
          <a:prstGeom prst="roundRect">
            <a:avLst/>
          </a:prstGeom>
          <a:solidFill>
            <a:srgbClr val="0C1E37"/>
          </a:solidFill>
          <a:ln>
            <a:solidFill>
              <a:srgbClr val="0C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Airflow UI
DAG runs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1353312"/>
            <a:ext cx="10241280" cy="566928"/>
          </a:xfrm>
          <a:prstGeom prst="roundRect">
            <a:avLst/>
          </a:prstGeom>
          <a:solidFill>
            <a:srgbClr val="F0F6FA"/>
          </a:solidFill>
          <a:ln>
            <a:solidFill>
              <a:srgbClr val="F0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700" b="1">
                <a:solidFill>
                  <a:srgbClr val="0C1E37"/>
                </a:solidFill>
                <a:latin typeface="Aptos"/>
              </a:rPr>
              <a:t>Terraform provisions the AWS foundation once; GitHub Actions handles repeat DAG deployments.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4069080"/>
            <a:ext cx="5669280" cy="1005840"/>
          </a:xfrm>
          <a:prstGeom prst="roundRect">
            <a:avLst/>
          </a:prstGeom>
          <a:solidFill>
            <a:srgbClr val="EBF8F6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700" b="0">
                <a:solidFill>
                  <a:srgbClr val="233041"/>
                </a:solidFill>
                <a:latin typeface="Aptos"/>
              </a:rPr>
              <a:t>Inside EC2: 4 GB swap | Docker | PostgreSQL metadata DB | Airflow webserver | Airflow scheduler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A699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789920" cy="438912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C1E37"/>
                </a:solidFill>
                <a:latin typeface="Aptos"/>
              </a:rPr>
              <a:t>3.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77824"/>
            <a:ext cx="10789920" cy="29260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F6E7D"/>
                </a:solidFill>
                <a:latin typeface="Aptos"/>
              </a:rPr>
              <a:t>Prepare access and tools before provisioning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64808"/>
            <a:ext cx="502920" cy="22860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F6E7D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Airflow on AWS EC2 | Terraform + Docker Compose + 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6126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AWS account with permission to create EC2, VPC, Elastic IP, security groups, and key pairs.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AWS CLI configured locally: aws configure (use a least-privilege IAM identity).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Terraform 1.5+ installed locally for initial provisioning and lifecycle operations.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GitHub repository with Actions enabled; you need permission to add repository secrets.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SSH client and a browser. Restrict allowed_cidr_blocks to your public IP where possible.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600199"/>
            <a:ext cx="1828800" cy="256032"/>
          </a:xfrm>
          <a:prstGeom prst="roundRect">
            <a:avLst/>
          </a:prstGeom>
          <a:solidFill>
            <a:srgbClr val="F18E2B"/>
          </a:solidFill>
          <a:ln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CHECK LOCAL TOOLS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874519"/>
            <a:ext cx="3611880" cy="1554480"/>
          </a:xfrm>
          <a:prstGeom prst="rect">
            <a:avLst/>
          </a:prstGeom>
          <a:solidFill>
            <a:srgbClr val="182737"/>
          </a:solidFill>
          <a:ln>
            <a:solidFill>
              <a:srgbClr val="182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5448" rIns="155448" tIns="155448" bIns="155448"/>
          <a:lstStyle/>
          <a:p>
            <a:pPr algn="l"/>
            <a:r>
              <a:rPr sz="1200" b="0">
                <a:solidFill>
                  <a:srgbClr val="E1EBF2"/>
                </a:solidFill>
                <a:latin typeface="Cascadia Mono"/>
              </a:rPr>
              <a:t>aws configure
terraform -version
git --version
ssh -V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886200"/>
            <a:ext cx="3611880" cy="914400"/>
          </a:xfrm>
          <a:prstGeom prst="roundRect">
            <a:avLst/>
          </a:prstGeom>
          <a:solidFill>
            <a:srgbClr val="FFF2F0"/>
          </a:solidFill>
          <a:ln>
            <a:solidFill>
              <a:srgbClr val="CC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1">
                <a:solidFill>
                  <a:srgbClr val="CC4949"/>
                </a:solidFill>
                <a:latin typeface="Aptos"/>
              </a:rPr>
              <a:t>Security note
Never commit keys, passwords, terraform.tfvars, or terraform.tfstate.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A699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789920" cy="438912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C1E37"/>
                </a:solidFill>
                <a:latin typeface="Aptos"/>
              </a:rPr>
              <a:t>4. Understand the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77824"/>
            <a:ext cx="10789920" cy="29260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F6E7D"/>
                </a:solidFill>
                <a:latin typeface="Aptos"/>
              </a:rPr>
              <a:t>These are the working areas you will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64808"/>
            <a:ext cx="502920" cy="22860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F6E7D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Airflow on AWS EC2 | Terraform + Docker Compose + GitHub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143000"/>
            <a:ext cx="1828800" cy="256032"/>
          </a:xfrm>
          <a:prstGeom prst="roundRect">
            <a:avLst/>
          </a:prstGeom>
          <a:solidFill>
            <a:srgbClr val="F18E2B"/>
          </a:solidFill>
          <a:ln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PROJECT LAYOUT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417320"/>
            <a:ext cx="3931920" cy="4160520"/>
          </a:xfrm>
          <a:prstGeom prst="rect">
            <a:avLst/>
          </a:prstGeom>
          <a:solidFill>
            <a:srgbClr val="182737"/>
          </a:solidFill>
          <a:ln>
            <a:solidFill>
              <a:srgbClr val="182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5448" rIns="155448" tIns="155448" bIns="155448"/>
          <a:lstStyle/>
          <a:p>
            <a:pPr algn="l"/>
            <a:r>
              <a:rPr sz="1200" b="0">
                <a:solidFill>
                  <a:srgbClr val="E1EBF2"/>
                </a:solidFill>
                <a:latin typeface="Cascadia Mono"/>
              </a:rPr>
              <a:t>terraform/
  main.tf, vpc.tf, ec2.tf
  security_groups.tf
  user_data.sh
  terraform.tfvars
dags/
  example_dag.py
.github/workflows/
  deploy-dags.yml
  terraform.yml
scripts/validate_dags.py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572768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33041"/>
                </a:solidFill>
                <a:latin typeface="Aptos"/>
              </a:defRPr>
            </a:pPr>
            <a:r>
              <a:t>terraform/: AWS resource definitions and EC2 bootstrap script.</a:t>
            </a:r>
          </a:p>
          <a:p>
            <a:pPr>
              <a:spcAft>
                <a:spcPts val="1400"/>
              </a:spcAft>
              <a:defRPr sz="1900">
                <a:solidFill>
                  <a:srgbClr val="233041"/>
                </a:solidFill>
                <a:latin typeface="Aptos"/>
              </a:defRPr>
            </a:pPr>
            <a:r>
              <a:t>dags/: version-controlled Airflow workflows.</a:t>
            </a:r>
          </a:p>
          <a:p>
            <a:pPr>
              <a:spcAft>
                <a:spcPts val="1400"/>
              </a:spcAft>
              <a:defRPr sz="1900">
                <a:solidFill>
                  <a:srgbClr val="233041"/>
                </a:solidFill>
                <a:latin typeface="Aptos"/>
              </a:defRPr>
            </a:pPr>
            <a:r>
              <a:t>deploy-dags.yml: validates and copies DAG files to /opt/airflow/dags/.</a:t>
            </a:r>
          </a:p>
          <a:p>
            <a:pPr>
              <a:spcAft>
                <a:spcPts val="1400"/>
              </a:spcAft>
              <a:defRPr sz="1900">
                <a:solidFill>
                  <a:srgbClr val="233041"/>
                </a:solidFill>
                <a:latin typeface="Aptos"/>
              </a:defRPr>
            </a:pPr>
            <a:r>
              <a:t>validate_dags.py: syntax check used before CI/CD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A699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789920" cy="438912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C1E37"/>
                </a:solidFill>
                <a:latin typeface="Aptos"/>
              </a:rPr>
              <a:t>5. Configure Terraform for your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77824"/>
            <a:ext cx="10789920" cy="29260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F6E7D"/>
                </a:solidFill>
                <a:latin typeface="Aptos"/>
              </a:rPr>
              <a:t>Set safe values before running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64808"/>
            <a:ext cx="502920" cy="22860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F6E7D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Airflow on AWS EC2 | Terraform + Docker Compose + 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89888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3041"/>
                </a:solidFill>
                <a:latin typeface="Aptos"/>
              </a:defRPr>
            </a:pPr>
            <a:r>
              <a:t>Copy terraform.tfvars.example to terraform.tfvars.</a:t>
            </a:r>
          </a:p>
          <a:p>
            <a:pPr>
              <a:spcAft>
                <a:spcPts val="1400"/>
              </a:spcAft>
              <a:defRPr sz="1800">
                <a:solidFill>
                  <a:srgbClr val="233041"/>
                </a:solidFill>
                <a:latin typeface="Aptos"/>
              </a:defRPr>
            </a:pPr>
            <a:r>
              <a:t>Choose us-east-1 (or your target region) and a suitable instance type. The recorded deployment uses t3.small.</a:t>
            </a:r>
          </a:p>
          <a:p>
            <a:pPr>
              <a:spcAft>
                <a:spcPts val="1400"/>
              </a:spcAft>
              <a:defRPr sz="1800">
                <a:solidFill>
                  <a:srgbClr val="233041"/>
                </a:solidFill>
                <a:latin typeface="Aptos"/>
              </a:defRPr>
            </a:pPr>
            <a:r>
              <a:t>Use a strong Airflow admin password; do not use the sample password in the repository.</a:t>
            </a:r>
          </a:p>
          <a:p>
            <a:pPr>
              <a:spcAft>
                <a:spcPts val="1400"/>
              </a:spcAft>
              <a:defRPr sz="1800">
                <a:solidFill>
                  <a:srgbClr val="233041"/>
                </a:solidFill>
                <a:latin typeface="Aptos"/>
              </a:defRPr>
            </a:pPr>
            <a:r>
              <a:t>Set allowed_cidr_blocks to your own public-IP CIDR instead of 0.0.0.0/0 for real 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143000"/>
            <a:ext cx="1828800" cy="256032"/>
          </a:xfrm>
          <a:prstGeom prst="roundRect">
            <a:avLst/>
          </a:prstGeom>
          <a:solidFill>
            <a:srgbClr val="F18E2B"/>
          </a:solidFill>
          <a:ln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EXAMPLE CONFIGURATION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1417320"/>
            <a:ext cx="4892040" cy="3337560"/>
          </a:xfrm>
          <a:prstGeom prst="rect">
            <a:avLst/>
          </a:prstGeom>
          <a:solidFill>
            <a:srgbClr val="182737"/>
          </a:solidFill>
          <a:ln>
            <a:solidFill>
              <a:srgbClr val="182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5448" rIns="155448" tIns="155448" bIns="155448"/>
          <a:lstStyle/>
          <a:p>
            <a:pPr algn="l"/>
            <a:r>
              <a:rPr sz="1200" b="0">
                <a:solidFill>
                  <a:srgbClr val="E1EBF2"/>
                </a:solidFill>
                <a:latin typeface="Cascadia Mono"/>
              </a:rPr>
              <a:t># terraform/terraform.tfvars
aws_region               = "us-east-1"
instance_type            = "t3.small"
airflow_image_tag        = "2.9.2"
airflow_admin_username   = "admin"
airflow_admin_password   = "&lt;strong-secret&gt;"
allowed_cidr_blocks      = ["YOUR.PUBLIC.IP/32"]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A699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789920" cy="438912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C1E37"/>
                </a:solidFill>
                <a:latin typeface="Aptos"/>
              </a:rPr>
              <a:t>6. Provision the AWS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77824"/>
            <a:ext cx="10789920" cy="29260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F6E7D"/>
                </a:solidFill>
                <a:latin typeface="Aptos"/>
              </a:rPr>
              <a:t>Terraform creates the host and starts its bootstrap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64808"/>
            <a:ext cx="502920" cy="22860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F6E7D"/>
                </a:solidFill>
                <a:latin typeface="Apto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Airflow on AWS EC2 | Terraform + Docker Compose + GitHub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39"/>
            <a:ext cx="1828800" cy="256032"/>
          </a:xfrm>
          <a:prstGeom prst="roundRect">
            <a:avLst/>
          </a:prstGeom>
          <a:solidFill>
            <a:srgbClr val="F18E2B"/>
          </a:solidFill>
          <a:ln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RUN LOCALLY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508760"/>
            <a:ext cx="3703320" cy="2194560"/>
          </a:xfrm>
          <a:prstGeom prst="rect">
            <a:avLst/>
          </a:prstGeom>
          <a:solidFill>
            <a:srgbClr val="182737"/>
          </a:solidFill>
          <a:ln>
            <a:solidFill>
              <a:srgbClr val="182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5448" rIns="155448" tIns="155448" bIns="155448"/>
          <a:lstStyle/>
          <a:p>
            <a:pPr algn="l"/>
            <a:r>
              <a:rPr sz="1200" b="0">
                <a:solidFill>
                  <a:srgbClr val="E1EBF2"/>
                </a:solidFill>
                <a:latin typeface="Cascadia Mono"/>
              </a:rPr>
              <a:t>cd terraform
terraform init
terraform fmt -check
terraform validate
terraform plan
terraform apply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6126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Review the plan carefully before approving apply.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Terraform provisions a VPC, public subnet, internet gateway, security group, EC2 instance, and Elastic IP.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The private key is saved locally as terraform/airflow-key.pem; protect it and do not add it to Git.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The EC2 user-data script configures swap, installs Docker/Compose, writes the Compose stack, initializes Airflow, and starts services.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43400"/>
            <a:ext cx="10378440" cy="658368"/>
          </a:xfrm>
          <a:prstGeom prst="roundRect">
            <a:avLst/>
          </a:prstGeom>
          <a:solidFill>
            <a:srgbClr val="FFF7E8"/>
          </a:solidFill>
          <a:ln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600" b="1">
                <a:solidFill>
                  <a:srgbClr val="233041"/>
                </a:solidFill>
                <a:latin typeface="Aptos"/>
              </a:rPr>
              <a:t>Wait a few minutes after apply: the bootstrap script downloads images and Airflow services need time to become healthy.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A699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789920" cy="438912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C1E37"/>
                </a:solidFill>
                <a:latin typeface="Aptos"/>
              </a:rPr>
              <a:t>7. Verify the host and open Airflow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77824"/>
            <a:ext cx="10789920" cy="29260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F6E7D"/>
                </a:solidFill>
                <a:latin typeface="Aptos"/>
              </a:rPr>
              <a:t>Use Terraform outputs, then confirm the Docker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64808"/>
            <a:ext cx="502920" cy="22860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F6E7D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Airflow on AWS EC2 | Terraform + Docker Compose + GitHub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1828800" cy="256032"/>
          </a:xfrm>
          <a:prstGeom prst="roundRect">
            <a:avLst/>
          </a:prstGeom>
          <a:solidFill>
            <a:srgbClr val="F18E2B"/>
          </a:solidFill>
          <a:ln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5212080" cy="3200400"/>
          </a:xfrm>
          <a:prstGeom prst="rect">
            <a:avLst/>
          </a:prstGeom>
          <a:solidFill>
            <a:srgbClr val="182737"/>
          </a:solidFill>
          <a:ln>
            <a:solidFill>
              <a:srgbClr val="182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5448" rIns="155448" tIns="155448" bIns="155448"/>
          <a:lstStyle/>
          <a:p>
            <a:pPr algn="l"/>
            <a:r>
              <a:rPr sz="1200" b="0">
                <a:solidFill>
                  <a:srgbClr val="E1EBF2"/>
                </a:solidFill>
                <a:latin typeface="Cascadia Mono"/>
              </a:rPr>
              <a:t>cd terraform
terraform output airflow_url
terraform output -raw ssh_command
# From your local terminal
ssh -i airflow-key.pem ec2-user@&lt;PUBLIC_IP&gt;
sudo docker-compose -f /opt/airflow/docker-compose.yml 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Open http://&lt;PUBLIC_IP&gt;:8080 in a browser.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Sign in with the Airflow admin credentials you configured.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Expect PostgreSQL, airflow-webserver, and airflow-scheduler to be healthy.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The sample example_hello_world DAG should appear; it is initially paused by configuration.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A699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789920" cy="438912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C1E37"/>
                </a:solidFill>
                <a:latin typeface="Aptos"/>
              </a:rPr>
              <a:t>8. Configure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77824"/>
            <a:ext cx="10789920" cy="29260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F6E7D"/>
                </a:solidFill>
                <a:latin typeface="Aptos"/>
              </a:rPr>
              <a:t>Add secrets once so pushes can deploy DAGs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64808"/>
            <a:ext cx="502920" cy="22860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F6E7D"/>
                </a:solidFill>
                <a:latin typeface="Apto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Airflow on AWS EC2 | Terraform + Docker Compose + GitHub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371600"/>
            <a:ext cx="5120640" cy="4023360"/>
          </a:xfrm>
          <a:prstGeom prst="roundRect">
            <a:avLst/>
          </a:prstGeom>
          <a:solidFill>
            <a:srgbClr val="F0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46888" rIns="246888" tIns="246888" bIns="246888"/>
          <a:lstStyle/>
          <a:p>
            <a:pPr algn="l"/>
            <a:r>
              <a:rPr sz="1800" b="0">
                <a:solidFill>
                  <a:srgbClr val="233041"/>
                </a:solidFill>
                <a:latin typeface="Aptos"/>
              </a:rPr>
              <a:t>Repository Settings → Secrets and variables → Actions
Required for DAG deployments
AIRFLOW_HOST
  EC2 Elastic IP or DNS name
SSH_PRIVATE_KEY
  Full contents of terraform/airflow-key.pem
Keep both as repository secrets — never add them to YAML or source files.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3716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The workflow triggers on pushes to main that change dags/ or requirements/.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It installs Airflow 2.9.2, validates DAG syntax, then uses SSH/SCP to copy files to the host.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Pull requests validate only; deployment runs only after a push to main.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For Terraform workflow use, configure AWS_ACCESS_KEY_ID, AWS_SECRET_ACCESS_KEY, and AWS_REGION too.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A699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789920" cy="438912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C1E37"/>
                </a:solidFill>
                <a:latin typeface="Aptos"/>
              </a:rPr>
              <a:t>9. Create a DAG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77824"/>
            <a:ext cx="10789920" cy="29260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F6E7D"/>
                </a:solidFill>
                <a:latin typeface="Aptos"/>
              </a:rPr>
              <a:t>Put one Python workflow file in the dags/ folder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64808"/>
            <a:ext cx="502920" cy="22860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F6E7D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Airflow on AWS EC2 | Terraform + Docker Compose + GitHub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987551"/>
            <a:ext cx="1828800" cy="256032"/>
          </a:xfrm>
          <a:prstGeom prst="roundRect">
            <a:avLst/>
          </a:prstGeom>
          <a:solidFill>
            <a:srgbClr val="F18E2B"/>
          </a:solidFill>
          <a:ln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dags/my_first_pipeline.py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61872"/>
            <a:ext cx="5623560" cy="4526280"/>
          </a:xfrm>
          <a:prstGeom prst="rect">
            <a:avLst/>
          </a:prstGeom>
          <a:solidFill>
            <a:srgbClr val="182737"/>
          </a:solidFill>
          <a:ln>
            <a:solidFill>
              <a:srgbClr val="182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5448" rIns="155448" tIns="155448" bIns="155448"/>
          <a:lstStyle/>
          <a:p>
            <a:pPr algn="l"/>
            <a:r>
              <a:rPr sz="1200" b="0">
                <a:solidFill>
                  <a:srgbClr val="E1EBF2"/>
                </a:solidFill>
                <a:latin typeface="Cascadia Mono"/>
              </a:rPr>
              <a:t>from datetime import datetime
from airflow import DAG
from airflow.operators.python import PythonOperator
def greet():
    print("Hello from my deployed DAG")
with DAG(
    dag_id="my_first_pipeline",
    start_date=datetime(2026, 1, 1),
    schedule=None, catchup=False,
) as dag:
    PythonOperator(task_id="greet", python_callable=greet)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5087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Give every DAG a unique dag_id.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Set catchup=False for a simple new pipeline unless backfills are intentional.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Keep dependencies compatible with the Airflow image; add any needed packages to requirements/requirements.txt.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Run a local syntax check before committing: python scripts/validate_dags.py.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A699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789920" cy="438912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C1E37"/>
                </a:solidFill>
                <a:latin typeface="Aptos"/>
              </a:rPr>
              <a:t>10. Deploy a DAG through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77824"/>
            <a:ext cx="10789920" cy="29260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F6E7D"/>
                </a:solidFill>
                <a:latin typeface="Aptos"/>
              </a:rPr>
              <a:t>This is the normal repeatable deployment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64808"/>
            <a:ext cx="502920" cy="22860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F6E7D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Airflow on AWS EC2 | Terraform + Docker Compose + GitHub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874519"/>
            <a:ext cx="2148840" cy="804672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Edit DAG
in dags/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14600" y="2121408"/>
            <a:ext cx="164592" cy="301752"/>
          </a:xfrm>
          <a:prstGeom prst="rightArrow">
            <a:avLst/>
          </a:prstGeom>
          <a:solidFill>
            <a:srgbClr val="5F6E7D"/>
          </a:solidFill>
          <a:ln>
            <a:solidFill>
              <a:srgbClr val="5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24912" y="1874519"/>
            <a:ext cx="2148840" cy="804672"/>
          </a:xfrm>
          <a:prstGeom prst="roundRect">
            <a:avLst/>
          </a:prstGeom>
          <a:solidFill>
            <a:srgbClr val="0C1E37"/>
          </a:solidFill>
          <a:ln>
            <a:solidFill>
              <a:srgbClr val="0C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Commit + push
to main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19472" y="2121408"/>
            <a:ext cx="164592" cy="301752"/>
          </a:xfrm>
          <a:prstGeom prst="rightArrow">
            <a:avLst/>
          </a:prstGeom>
          <a:solidFill>
            <a:srgbClr val="5F6E7D"/>
          </a:solidFill>
          <a:ln>
            <a:solidFill>
              <a:srgbClr val="5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29783" y="1874519"/>
            <a:ext cx="2148840" cy="804672"/>
          </a:xfrm>
          <a:prstGeom prst="roundRect">
            <a:avLst/>
          </a:prstGeom>
          <a:solidFill>
            <a:srgbClr val="00A699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Actions
validates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324344" y="2121408"/>
            <a:ext cx="164592" cy="301752"/>
          </a:xfrm>
          <a:prstGeom prst="rightArrow">
            <a:avLst/>
          </a:prstGeom>
          <a:solidFill>
            <a:srgbClr val="5F6E7D"/>
          </a:solidFill>
          <a:ln>
            <a:solidFill>
              <a:srgbClr val="5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34656" y="1874519"/>
            <a:ext cx="2148840" cy="804672"/>
          </a:xfrm>
          <a:prstGeom prst="roundRect">
            <a:avLst/>
          </a:prstGeom>
          <a:solidFill>
            <a:srgbClr val="F18E2B"/>
          </a:solidFill>
          <a:ln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SSH/SCP
copies DAG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729216" y="2121408"/>
            <a:ext cx="164592" cy="301752"/>
          </a:xfrm>
          <a:prstGeom prst="rightArrow">
            <a:avLst/>
          </a:prstGeom>
          <a:solidFill>
            <a:srgbClr val="5F6E7D"/>
          </a:solidFill>
          <a:ln>
            <a:solidFill>
              <a:srgbClr val="5F6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39528" y="1874519"/>
            <a:ext cx="2148840" cy="804672"/>
          </a:xfrm>
          <a:prstGeom prst="roundRect">
            <a:avLst/>
          </a:prstGeom>
          <a:solidFill>
            <a:srgbClr val="25985C"/>
          </a:solidFill>
          <a:ln>
            <a:solidFill>
              <a:srgbClr val="259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Scheduler
loads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3520440"/>
            <a:ext cx="1828800" cy="256032"/>
          </a:xfrm>
          <a:prstGeom prst="roundRect">
            <a:avLst/>
          </a:prstGeom>
          <a:solidFill>
            <a:srgbClr val="F18E2B"/>
          </a:solidFill>
          <a:ln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COMMANDS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3794760"/>
            <a:ext cx="5440680" cy="1234440"/>
          </a:xfrm>
          <a:prstGeom prst="rect">
            <a:avLst/>
          </a:prstGeom>
          <a:solidFill>
            <a:srgbClr val="182737"/>
          </a:solidFill>
          <a:ln>
            <a:solidFill>
              <a:srgbClr val="182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5448" rIns="155448" tIns="155448" bIns="155448"/>
          <a:lstStyle/>
          <a:p>
            <a:pPr algn="l"/>
            <a:r>
              <a:rPr sz="1200" b="0">
                <a:solidFill>
                  <a:srgbClr val="E1EBF2"/>
                </a:solidFill>
                <a:latin typeface="Cascadia Mono"/>
              </a:rPr>
              <a:t>git add dags/my_first_pipeline.py
git commit -m "feat: add first pipeline"
git push origin main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5440680"/>
            <a:ext cx="9326880" cy="530352"/>
          </a:xfrm>
          <a:prstGeom prst="roundRect">
            <a:avLst/>
          </a:prstGeom>
          <a:solidFill>
            <a:srgbClr val="F0F6FA"/>
          </a:solidFill>
          <a:ln>
            <a:solidFill>
              <a:srgbClr val="F0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400" b="1">
                <a:solidFill>
                  <a:srgbClr val="0C1E37"/>
                </a:solidFill>
                <a:latin typeface="Aptos"/>
              </a:rPr>
              <a:t>Watch the “Deploy DAGs to Airflow” workflow in the GitHub Actions tab. The scheduler can take up to ~60 seconds to discover the new file.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A699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789920" cy="438912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C1E37"/>
                </a:solidFill>
                <a:latin typeface="Aptos"/>
              </a:rPr>
              <a:t>11. Run and monitor the deployed DAG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77824"/>
            <a:ext cx="10789920" cy="29260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F6E7D"/>
                </a:solidFill>
                <a:latin typeface="Aptos"/>
              </a:rPr>
              <a:t>The UI is where you enable, trigger, inspect, and troubleshoot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64808"/>
            <a:ext cx="502920" cy="22860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F6E7D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Airflow on AWS EC2 | Terraform + Docker Compose + 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3041"/>
                </a:solidFill>
                <a:latin typeface="Aptos"/>
              </a:defRPr>
            </a:pPr>
            <a:r>
              <a:t>Open the Airflow UI and locate my_first_pipeline.</a:t>
            </a:r>
          </a:p>
          <a:p>
            <a:pPr>
              <a:spcAft>
                <a:spcPts val="1400"/>
              </a:spcAft>
              <a:defRPr sz="1800">
                <a:solidFill>
                  <a:srgbClr val="233041"/>
                </a:solidFill>
                <a:latin typeface="Aptos"/>
              </a:defRPr>
            </a:pPr>
            <a:r>
              <a:t>Toggle the DAG from paused to active, then click the play button to trigger it manually.</a:t>
            </a:r>
          </a:p>
          <a:p>
            <a:pPr>
              <a:spcAft>
                <a:spcPts val="1400"/>
              </a:spcAft>
              <a:defRPr sz="1800">
                <a:solidFill>
                  <a:srgbClr val="233041"/>
                </a:solidFill>
                <a:latin typeface="Aptos"/>
              </a:defRPr>
            </a:pPr>
            <a:r>
              <a:t>Open Grid or Graph view to inspect task state; select a task and view its logs.</a:t>
            </a:r>
          </a:p>
          <a:p>
            <a:pPr>
              <a:spcAft>
                <a:spcPts val="1400"/>
              </a:spcAft>
              <a:defRPr sz="1800">
                <a:solidFill>
                  <a:srgbClr val="233041"/>
                </a:solidFill>
                <a:latin typeface="Aptos"/>
              </a:defRPr>
            </a:pPr>
            <a:r>
              <a:t>For host-side checks: SSH in and run docker-compose -f /opt/airflow/docker-compose.yml ps.</a:t>
            </a:r>
          </a:p>
          <a:p>
            <a:pPr>
              <a:spcAft>
                <a:spcPts val="1400"/>
              </a:spcAft>
              <a:defRPr sz="1800">
                <a:solidFill>
                  <a:srgbClr val="233041"/>
                </a:solidFill>
                <a:latin typeface="Aptos"/>
              </a:defRPr>
            </a:pPr>
            <a:r>
              <a:t>If a DAG is missing, first inspect the GitHub Actions run, then validate the file and verify its location under /opt/airflow/dags/.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600200"/>
            <a:ext cx="3154680" cy="3200400"/>
          </a:xfrm>
          <a:prstGeom prst="roundRect">
            <a:avLst/>
          </a:prstGeom>
          <a:solidFill>
            <a:srgbClr val="EBF8F6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900" b="1">
                <a:solidFill>
                  <a:srgbClr val="233041"/>
                </a:solidFill>
                <a:latin typeface="Aptos"/>
              </a:rPr>
              <a:t>Healthy signals
✓ UI opens
✓ DAG appears
✓ Scheduler is healthy
✓ Task logs are written
✓ GitHub Actions run is green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A699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0789920" cy="438912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C1E37"/>
                </a:solidFill>
                <a:latin typeface="Aptos"/>
              </a:rPr>
              <a:t>12. Operational notes and next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77824"/>
            <a:ext cx="10789920" cy="29260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F6E7D"/>
                </a:solidFill>
                <a:latin typeface="Aptos"/>
              </a:rPr>
              <a:t>Keep the demo dependable and safer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64808"/>
            <a:ext cx="502920" cy="22860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F6E7D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473952"/>
            <a:ext cx="7772400" cy="20116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Airflow on AWS EC2 | Terraform + Docker Compose + 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Documentation cleanup: update README.md — it still describes the retired MWAA/S3 design; context.md is closer to the EC2 implementation.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Security: replace sample credentials, restrict SSH/UI CIDRs, consider HTTPS + a reverse proxy, and rotate exposed credentials.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Reliability: back up Terraform state remotely, monitor disk/memory, and use a larger instance or managed service for production workloads.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Dependencies: use a controlled requirements file and test DAG imports in CI before deployment.</a:t>
            </a:r>
          </a:p>
          <a:p>
            <a:pPr>
              <a:spcAft>
                <a:spcPts val="1400"/>
              </a:spcAft>
              <a:defRPr sz="1700">
                <a:solidFill>
                  <a:srgbClr val="233041"/>
                </a:solidFill>
                <a:latin typeface="Aptos"/>
              </a:defRPr>
            </a:pPr>
            <a:r>
              <a:t>Cost control: when the demo is no longer needed, run terraform destroy from terraform/.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230368"/>
            <a:ext cx="9966960" cy="585216"/>
          </a:xfrm>
          <a:prstGeom prst="roundRect">
            <a:avLst/>
          </a:prstGeom>
          <a:solidFill>
            <a:srgbClr val="0C1E37"/>
          </a:solidFill>
          <a:ln>
            <a:solidFill>
              <a:srgbClr val="0C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Final result: infrastructure is reproducible, DAG changes are version-controlled, and deployment is automated by GitHub 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